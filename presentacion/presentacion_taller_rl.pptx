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77bc8e4a-1aa1-beb2-6d64-9a01e045519c}">
          <p14:sldIdLst>
            <p14:sldId id="256"/>
          </p14:sldIdLst>
        </p14:section>
        <p14:section name="Qué aprende" id="{c3cebfee-a61a-f0f5-5cdf-9c390db143d0}">
          <p14:sldIdLst>
            <p14:sldId id="257"/>
          </p14:sldIdLst>
        </p14:section>
        <p14:section name="Evolución" id="{c4b4d5a2-009b-2373-2c28-61a14fd3609e}">
          <p14:sldIdLst>
            <p14:sldId id="258"/>
          </p14:sldIdLst>
        </p14:section>
        <p14:section name="Sobre el precio" id="{1d58ef78-6afe-35e1-a0ed-3660e9477d75}">
          <p14:sldIdLst>
            <p14:sldId id="259"/>
          </p14:sldIdLst>
        </p14:section>
        <p14:section name="Resultados" id="{04534d15-8838-7aba-5449-f63b3e859aad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6454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6454F"/>
                </a:solidFill>
                <a:latin typeface="+mn-lt"/>
              </a:rPr>
              <a:t>Reversión a la media · log-retorno en test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Q-Learning</c:v>
                </c:pt>
              </c:strCache>
            </c:strRef>
          </c:tx>
          <c:spPr>
            <a:solidFill>
              <a:srgbClr val="D3D3D3"/>
            </a:solidFill>
            <a:effectLst/>
          </c:spPr>
          <c:invertIfNegative val="0"/>
          <c:dLbls>
            <c:numFmt formatCode="+0.0;-0.0;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36454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3D3D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0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0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α = 0,05</c:v>
                  </c:pt>
                  <c:pt idx="1">
                    <c:v>α = 0,01</c:v>
                  </c:pt>
                  <c:pt idx="2">
                    <c:v>α = 0,005</c:v>
                  </c:pt>
                  <c:pt idx="3">
                    <c:v>α = 0,002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11.6</c:v>
                </c:pt>
                <c:pt idx="2">
                  <c:v>17.2</c:v>
                </c:pt>
                <c:pt idx="3">
                  <c:v>21.6</c:v>
                </c:pt>
              </c:numCache>
            </c:numRef>
          </c:val>
        </c:ser>
        <c:dLbls>
          <c:numFmt formatCode="+0.0;-0.0;0" sourceLinked="0"/>
          <c:txPr>
            <a:bodyPr/>
            <a:lstStyle/>
            <a:p>
              <a:pPr>
                <a:defRPr b="1" i="0" strike="noStrike" sz="1600" u="none">
                  <a:solidFill>
                    <a:srgbClr val="36454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6454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todos (presentación rápida). Ver chuleta.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Marco. Estado = (bin de tendencia por cuantiles, posición): 20 estados × 3 acciones. Arriba la señal real, abajo la política aprendida: coinciden.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Dani. Qué probamos, qué falló, qué cambiamos y qué aprendimos. Ver chuleta.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Cristian. Triángulo azul = compra, rojo = venta, sombreado = en posición. Q-Learning, semilla mediana, serie de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Cristian. Resultados frente al efectivo, Q-L ≈ SARSA, BTC y conclusión. Ver chuleta.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67665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Taller RL · Q-Learning y SARSA · 29/10/2026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Agente trader con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Q-Learning y SARSA</a:t>
            </a:r>
            <a:endParaRPr lang="en-US" sz="4000" dirty="0"/>
          </a:p>
        </p:txBody>
      </p:sp>
      <p:sp>
        <p:nvSpPr>
          <p:cNvPr id="3" name="subtitulo"/>
          <p:cNvSpPr txBox="1"/>
          <p:nvPr/>
        </p:nvSpPr>
        <p:spPr>
          <a:xfrm>
            <a:off x="548640" y="37490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Aprendizaje por refuerzo tabular en 4 mercados sintéticos y en BTC real</a:t>
            </a:r>
            <a:endParaRPr lang="en-US" sz="1800" dirty="0"/>
          </a:p>
        </p:txBody>
      </p:sp>
      <p:sp>
        <p:nvSpPr>
          <p:cNvPr id="4" name="autores"/>
          <p:cNvSpPr txBox="1"/>
          <p:nvPr/>
        </p:nvSpPr>
        <p:spPr>
          <a:xfrm>
            <a:off x="548640" y="55778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Cristian Camilo  ·  Daniel Gallego  ·  Marco Corpa</a:t>
            </a:r>
            <a:endParaRPr lang="en-US" sz="1600" dirty="0"/>
          </a:p>
        </p:txBody>
      </p:sp>
      <p:sp>
        <p:nvSpPr>
          <p:cNvPr id="5" name="fecha"/>
          <p:cNvSpPr txBox="1"/>
          <p:nvPr/>
        </p:nvSpPr>
        <p:spPr>
          <a:xfrm>
            <a:off x="548640" y="59436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Taller RL  ·  29 de octubre de 2026</a:t>
            </a:r>
            <a:endParaRPr lang="en-US" sz="1200" dirty="0"/>
          </a:p>
        </p:txBody>
      </p:sp>
      <p:sp>
        <p:nvSpPr>
          <p:cNvPr id="6" name="cifra_0"/>
          <p:cNvSpPr txBox="1"/>
          <p:nvPr/>
        </p:nvSpPr>
        <p:spPr>
          <a:xfrm>
            <a:off x="8138160" y="11430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4</a:t>
            </a:r>
            <a:endParaRPr lang="en-US" sz="5400" dirty="0"/>
          </a:p>
        </p:txBody>
      </p:sp>
      <p:sp>
        <p:nvSpPr>
          <p:cNvPr id="7" name="cifra_label_0"/>
          <p:cNvSpPr txBox="1"/>
          <p:nvPr/>
        </p:nvSpPr>
        <p:spPr>
          <a:xfrm>
            <a:off x="813816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mercados sintéticos</a:t>
            </a:r>
            <a:endParaRPr lang="en-US" sz="1400" dirty="0"/>
          </a:p>
        </p:txBody>
      </p:sp>
      <p:sp>
        <p:nvSpPr>
          <p:cNvPr id="8" name="cifra_1"/>
          <p:cNvSpPr txBox="1"/>
          <p:nvPr/>
        </p:nvSpPr>
        <p:spPr>
          <a:xfrm>
            <a:off x="8138160" y="27432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2</a:t>
            </a:r>
            <a:endParaRPr lang="en-US" sz="5400" dirty="0"/>
          </a:p>
        </p:txBody>
      </p:sp>
      <p:sp>
        <p:nvSpPr>
          <p:cNvPr id="9" name="cifra_label_1"/>
          <p:cNvSpPr txBox="1"/>
          <p:nvPr/>
        </p:nvSpPr>
        <p:spPr>
          <a:xfrm>
            <a:off x="8138160" y="3611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algoritmos: Q-Learning y SARSA</a:t>
            </a:r>
            <a:endParaRPr lang="en-US" sz="1400" dirty="0"/>
          </a:p>
        </p:txBody>
      </p:sp>
      <p:sp>
        <p:nvSpPr>
          <p:cNvPr id="10" name="cifra_2"/>
          <p:cNvSpPr txBox="1"/>
          <p:nvPr/>
        </p:nvSpPr>
        <p:spPr>
          <a:xfrm>
            <a:off x="8138160" y="43434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1 140</a:t>
            </a:r>
            <a:endParaRPr lang="en-US" sz="5400" dirty="0"/>
          </a:p>
        </p:txBody>
      </p:sp>
      <p:sp>
        <p:nvSpPr>
          <p:cNvPr id="11" name="cifra_label_2"/>
          <p:cNvSpPr txBox="1"/>
          <p:nvPr/>
        </p:nvSpPr>
        <p:spPr>
          <a:xfrm>
            <a:off x="8138160" y="5212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entrenamientos reproducibles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Aprende la estrategia que cada mercado permite</a:t>
            </a:r>
            <a:endParaRPr lang="en-US" sz="3200" dirty="0"/>
          </a:p>
        </p:txBody>
      </p:sp>
      <p:pic>
        <p:nvPicPr>
          <p:cNvPr id="3" name="fig_senal_politica" descr="Arriba: señal real por bin de tendencia en los 4 mercados. Abajo: política aprendida por Q-Learning y SARS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11094415" cy="4355465"/>
          </a:xfrm>
          <a:prstGeom prst="rect">
            <a:avLst/>
          </a:prstGeom>
        </p:spPr>
      </p:pic>
      <p:sp>
        <p:nvSpPr>
          <p:cNvPr id="4" name="chip_0"/>
          <p:cNvSpPr/>
          <p:nvPr/>
        </p:nvSpPr>
        <p:spPr>
          <a:xfrm>
            <a:off x="548640" y="5760720"/>
            <a:ext cx="2567864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hip_txt_0"/>
          <p:cNvSpPr txBox="1"/>
          <p:nvPr/>
        </p:nvSpPr>
        <p:spPr>
          <a:xfrm>
            <a:off x="548640" y="576072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Momentum</a:t>
            </a:r>
            <a:endParaRPr lang="en-US" sz="1400" dirty="0"/>
          </a:p>
        </p:txBody>
      </p:sp>
      <p:sp>
        <p:nvSpPr>
          <p:cNvPr id="6" name="chip_1"/>
          <p:cNvSpPr/>
          <p:nvPr/>
        </p:nvSpPr>
        <p:spPr>
          <a:xfrm>
            <a:off x="3390824" y="5760720"/>
            <a:ext cx="2567864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hip_txt_1"/>
          <p:cNvSpPr txBox="1"/>
          <p:nvPr/>
        </p:nvSpPr>
        <p:spPr>
          <a:xfrm>
            <a:off x="3390824" y="576072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operar</a:t>
            </a:r>
            <a:endParaRPr lang="en-US" sz="1400" dirty="0"/>
          </a:p>
        </p:txBody>
      </p:sp>
      <p:sp>
        <p:nvSpPr>
          <p:cNvPr id="8" name="chip_2"/>
          <p:cNvSpPr/>
          <p:nvPr/>
        </p:nvSpPr>
        <p:spPr>
          <a:xfrm>
            <a:off x="6233008" y="5760720"/>
            <a:ext cx="2567864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hip_txt_2"/>
          <p:cNvSpPr txBox="1"/>
          <p:nvPr/>
        </p:nvSpPr>
        <p:spPr>
          <a:xfrm>
            <a:off x="6233008" y="576072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Comprar caídas, vender subidas</a:t>
            </a:r>
            <a:endParaRPr lang="en-US" sz="1400" dirty="0"/>
          </a:p>
        </p:txBody>
      </p:sp>
      <p:sp>
        <p:nvSpPr>
          <p:cNvPr id="10" name="chip_3"/>
          <p:cNvSpPr/>
          <p:nvPr/>
        </p:nvSpPr>
        <p:spPr>
          <a:xfrm>
            <a:off x="9075191" y="5760720"/>
            <a:ext cx="2567864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hip_txt_3"/>
          <p:cNvSpPr txBox="1"/>
          <p:nvPr/>
        </p:nvSpPr>
        <p:spPr>
          <a:xfrm>
            <a:off x="9075191" y="576072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Salir en los extremos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La clave fue α, no entrenar más</a:t>
            </a:r>
            <a:endParaRPr lang="en-US" sz="3200" dirty="0"/>
          </a:p>
        </p:txBody>
      </p:sp>
      <p:graphicFrame>
        <p:nvGraphicFramePr>
          <p:cNvPr id="3" name="grafico_alpha" descr=""/>
          <p:cNvGraphicFramePr/>
          <p:nvPr/>
        </p:nvGraphicFramePr>
        <p:xfrm>
          <a:off x="548640" y="1280160"/>
          <a:ext cx="60350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aso_1"/>
          <p:cNvSpPr/>
          <p:nvPr/>
        </p:nvSpPr>
        <p:spPr>
          <a:xfrm>
            <a:off x="7086600" y="1371600"/>
            <a:ext cx="4556455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o_circulo_1"/>
          <p:cNvSpPr/>
          <p:nvPr/>
        </p:nvSpPr>
        <p:spPr>
          <a:xfrm>
            <a:off x="7360920" y="171450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paso_num_1"/>
          <p:cNvSpPr txBox="1"/>
          <p:nvPr/>
        </p:nvSpPr>
        <p:spPr>
          <a:xfrm>
            <a:off x="736092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paso_titulo_1"/>
          <p:cNvSpPr txBox="1"/>
          <p:nvPr/>
        </p:nvSpPr>
        <p:spPr>
          <a:xfrm>
            <a:off x="8138160" y="1600200"/>
            <a:ext cx="3322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Por defecto (α = 0,05)</a:t>
            </a:r>
            <a:endParaRPr lang="en-US" sz="1800" dirty="0"/>
          </a:p>
        </p:txBody>
      </p:sp>
      <p:sp>
        <p:nvSpPr>
          <p:cNvPr id="8" name="paso_desc_1"/>
          <p:cNvSpPr txBox="1"/>
          <p:nvPr/>
        </p:nvSpPr>
        <p:spPr>
          <a:xfrm>
            <a:off x="8138160" y="2057400"/>
            <a:ext cx="3322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20 de 20 agentes no operan nunca</a:t>
            </a:r>
            <a:endParaRPr lang="en-US" sz="1500" dirty="0"/>
          </a:p>
        </p:txBody>
      </p:sp>
      <p:sp>
        <p:nvSpPr>
          <p:cNvPr id="9" name="paso_2"/>
          <p:cNvSpPr/>
          <p:nvPr/>
        </p:nvSpPr>
        <p:spPr>
          <a:xfrm>
            <a:off x="7086600" y="2880360"/>
            <a:ext cx="4556455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o_circulo_2"/>
          <p:cNvSpPr/>
          <p:nvPr/>
        </p:nvSpPr>
        <p:spPr>
          <a:xfrm>
            <a:off x="7360920" y="322326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paso_num_2"/>
          <p:cNvSpPr txBox="1"/>
          <p:nvPr/>
        </p:nvSpPr>
        <p:spPr>
          <a:xfrm>
            <a:off x="7360920" y="32232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paso_titulo_2"/>
          <p:cNvSpPr txBox="1"/>
          <p:nvPr/>
        </p:nvSpPr>
        <p:spPr>
          <a:xfrm>
            <a:off x="8138160" y="3108960"/>
            <a:ext cx="3322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¿Más episodios? N = 10 000</a:t>
            </a:r>
            <a:endParaRPr lang="en-US" sz="1800" dirty="0"/>
          </a:p>
        </p:txBody>
      </p:sp>
      <p:sp>
        <p:nvSpPr>
          <p:cNvPr id="13" name="paso_desc_2"/>
          <p:cNvSpPr txBox="1"/>
          <p:nvPr/>
        </p:nvSpPr>
        <p:spPr>
          <a:xfrm>
            <a:off x="8138160" y="3566160"/>
            <a:ext cx="3322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Siguen sin operar: no es la duración</a:t>
            </a:r>
            <a:endParaRPr lang="en-US" sz="1500" dirty="0"/>
          </a:p>
        </p:txBody>
      </p:sp>
      <p:sp>
        <p:nvSpPr>
          <p:cNvPr id="14" name="paso_3"/>
          <p:cNvSpPr/>
          <p:nvPr/>
        </p:nvSpPr>
        <p:spPr>
          <a:xfrm>
            <a:off x="7086600" y="4389120"/>
            <a:ext cx="4556455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paso_circulo_3"/>
          <p:cNvSpPr/>
          <p:nvPr/>
        </p:nvSpPr>
        <p:spPr>
          <a:xfrm>
            <a:off x="7360920" y="47320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aso_num_3"/>
          <p:cNvSpPr txBox="1"/>
          <p:nvPr/>
        </p:nvSpPr>
        <p:spPr>
          <a:xfrm>
            <a:off x="7360920" y="47320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paso_titulo_3"/>
          <p:cNvSpPr txBox="1"/>
          <p:nvPr/>
        </p:nvSpPr>
        <p:spPr>
          <a:xfrm>
            <a:off x="8138160" y="4617720"/>
            <a:ext cx="3322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Bajar α, mismo N</a:t>
            </a:r>
            <a:endParaRPr lang="en-US" sz="1800" dirty="0"/>
          </a:p>
        </p:txBody>
      </p:sp>
      <p:sp>
        <p:nvSpPr>
          <p:cNvPr id="18" name="paso_desc_3"/>
          <p:cNvSpPr txBox="1"/>
          <p:nvPr/>
        </p:nvSpPr>
        <p:spPr>
          <a:xfrm>
            <a:off x="8138160" y="5074920"/>
            <a:ext cx="3322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+23,7 pp en reversión</a:t>
            </a:r>
            <a:endParaRPr lang="en-US" sz="1500" dirty="0"/>
          </a:p>
        </p:txBody>
      </p:sp>
      <p:sp>
        <p:nvSpPr>
          <p:cNvPr id="19" name="mecanismo"/>
          <p:cNvSpPr txBox="1"/>
          <p:nvPr/>
        </p:nvSpPr>
        <p:spPr>
          <a:xfrm>
            <a:off x="7086600" y="5806440"/>
            <a:ext cx="4556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Ruido en Q &gt; ventaja por paso → deja de probar «comprar»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Así opera sobre el precio</a:t>
            </a:r>
            <a:endParaRPr lang="en-US" sz="3200" dirty="0"/>
          </a:p>
        </p:txBody>
      </p:sp>
      <p:pic>
        <p:nvPicPr>
          <p:cNvPr id="3" name="fig_precio_senales" descr="Precio con las compras y ventas de Q-Learning en una serie de test de los mercados cíclico, reversión y regímenes, y en BTC real durante 2025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11094415" cy="485963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Opera donde hay señal; se queda fuera donde no</a:t>
            </a:r>
            <a:endParaRPr lang="en-US" sz="3200" dirty="0"/>
          </a:p>
        </p:txBody>
      </p:sp>
      <p:sp>
        <p:nvSpPr>
          <p:cNvPr id="3" name="tile_0"/>
          <p:cNvSpPr/>
          <p:nvPr/>
        </p:nvSpPr>
        <p:spPr>
          <a:xfrm>
            <a:off x="548640" y="1280160"/>
            <a:ext cx="2567864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ile_mercado_0"/>
          <p:cNvSpPr txBox="1"/>
          <p:nvPr/>
        </p:nvSpPr>
        <p:spPr>
          <a:xfrm>
            <a:off x="777240" y="1463040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Tendencia + ciclo</a:t>
            </a:r>
            <a:endParaRPr lang="en-US" sz="1400" dirty="0"/>
          </a:p>
        </p:txBody>
      </p:sp>
      <p:sp>
        <p:nvSpPr>
          <p:cNvPr id="5" name="tile_num_0"/>
          <p:cNvSpPr txBox="1"/>
          <p:nvPr/>
        </p:nvSpPr>
        <p:spPr>
          <a:xfrm>
            <a:off x="777240" y="1828800"/>
            <a:ext cx="2110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+610</a:t>
            </a:r>
            <a:endParaRPr lang="en-US" sz="4400" dirty="0"/>
          </a:p>
        </p:txBody>
      </p:sp>
      <p:sp>
        <p:nvSpPr>
          <p:cNvPr id="6" name="tile_sub_0"/>
          <p:cNvSpPr txBox="1"/>
          <p:nvPr/>
        </p:nvSpPr>
        <p:spPr>
          <a:xfrm>
            <a:off x="777240" y="26517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Momentum · Buy &amp; Hold +338</a:t>
            </a:r>
            <a:endParaRPr lang="en-US" sz="1200" dirty="0"/>
          </a:p>
        </p:txBody>
      </p:sp>
      <p:sp>
        <p:nvSpPr>
          <p:cNvPr id="7" name="tile_chip_0"/>
          <p:cNvSpPr/>
          <p:nvPr/>
        </p:nvSpPr>
        <p:spPr>
          <a:xfrm>
            <a:off x="777240" y="3154680"/>
            <a:ext cx="2110664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ile_chip_txt_0"/>
          <p:cNvSpPr txBox="1"/>
          <p:nvPr/>
        </p:nvSpPr>
        <p:spPr>
          <a:xfrm>
            <a:off x="777240" y="31546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Supera al efectivo</a:t>
            </a:r>
            <a:endParaRPr lang="en-US" sz="1200" dirty="0"/>
          </a:p>
        </p:txBody>
      </p:sp>
      <p:sp>
        <p:nvSpPr>
          <p:cNvPr id="9" name="tile_1"/>
          <p:cNvSpPr/>
          <p:nvPr/>
        </p:nvSpPr>
        <p:spPr>
          <a:xfrm>
            <a:off x="3390824" y="1280160"/>
            <a:ext cx="2567864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ile_mercado_1"/>
          <p:cNvSpPr txBox="1"/>
          <p:nvPr/>
        </p:nvSpPr>
        <p:spPr>
          <a:xfrm>
            <a:off x="3619424" y="1463040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Reversión a la media</a:t>
            </a:r>
            <a:endParaRPr lang="en-US" sz="1400" dirty="0"/>
          </a:p>
        </p:txBody>
      </p:sp>
      <p:sp>
        <p:nvSpPr>
          <p:cNvPr id="11" name="tile_num_1"/>
          <p:cNvSpPr txBox="1"/>
          <p:nvPr/>
        </p:nvSpPr>
        <p:spPr>
          <a:xfrm>
            <a:off x="3619424" y="1828800"/>
            <a:ext cx="2110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+21,6</a:t>
            </a:r>
            <a:endParaRPr lang="en-US" sz="4400" dirty="0"/>
          </a:p>
        </p:txBody>
      </p:sp>
      <p:sp>
        <p:nvSpPr>
          <p:cNvPr id="12" name="tile_sub_1"/>
          <p:cNvSpPr txBox="1"/>
          <p:nvPr/>
        </p:nvSpPr>
        <p:spPr>
          <a:xfrm>
            <a:off x="3619424" y="26517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Buy &amp; Hold −1,1</a:t>
            </a:r>
            <a:endParaRPr lang="en-US" sz="1200" dirty="0"/>
          </a:p>
        </p:txBody>
      </p:sp>
      <p:sp>
        <p:nvSpPr>
          <p:cNvPr id="13" name="tile_chip_1"/>
          <p:cNvSpPr/>
          <p:nvPr/>
        </p:nvSpPr>
        <p:spPr>
          <a:xfrm>
            <a:off x="3619424" y="3154680"/>
            <a:ext cx="2110664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ile_chip_txt_1"/>
          <p:cNvSpPr txBox="1"/>
          <p:nvPr/>
        </p:nvSpPr>
        <p:spPr>
          <a:xfrm>
            <a:off x="3619424" y="31546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Supera al efectivo</a:t>
            </a:r>
            <a:endParaRPr lang="en-US" sz="1200" dirty="0"/>
          </a:p>
        </p:txBody>
      </p:sp>
      <p:sp>
        <p:nvSpPr>
          <p:cNvPr id="15" name="tile_2"/>
          <p:cNvSpPr/>
          <p:nvPr/>
        </p:nvSpPr>
        <p:spPr>
          <a:xfrm>
            <a:off x="6233008" y="1280160"/>
            <a:ext cx="2567864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ile_mercado_2"/>
          <p:cNvSpPr txBox="1"/>
          <p:nvPr/>
        </p:nvSpPr>
        <p:spPr>
          <a:xfrm>
            <a:off x="6461608" y="1463040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Browniano</a:t>
            </a:r>
            <a:endParaRPr lang="en-US" sz="1400" dirty="0"/>
          </a:p>
        </p:txBody>
      </p:sp>
      <p:sp>
        <p:nvSpPr>
          <p:cNvPr id="17" name="tile_num_2"/>
          <p:cNvSpPr txBox="1"/>
          <p:nvPr/>
        </p:nvSpPr>
        <p:spPr>
          <a:xfrm>
            <a:off x="6461608" y="1828800"/>
            <a:ext cx="2110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≈ 0</a:t>
            </a:r>
            <a:endParaRPr lang="en-US" sz="4400" dirty="0"/>
          </a:p>
        </p:txBody>
      </p:sp>
      <p:sp>
        <p:nvSpPr>
          <p:cNvPr id="18" name="tile_sub_2"/>
          <p:cNvSpPr txBox="1"/>
          <p:nvPr/>
        </p:nvSpPr>
        <p:spPr>
          <a:xfrm>
            <a:off x="6461608" y="26517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Sin señal → no opera (correcto)</a:t>
            </a:r>
            <a:endParaRPr lang="en-US" sz="1200" dirty="0"/>
          </a:p>
        </p:txBody>
      </p:sp>
      <p:sp>
        <p:nvSpPr>
          <p:cNvPr id="19" name="tile_chip_2"/>
          <p:cNvSpPr/>
          <p:nvPr/>
        </p:nvSpPr>
        <p:spPr>
          <a:xfrm>
            <a:off x="6461608" y="3154680"/>
            <a:ext cx="2110664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ile_chip_txt_2"/>
          <p:cNvSpPr txBox="1"/>
          <p:nvPr/>
        </p:nvSpPr>
        <p:spPr>
          <a:xfrm>
            <a:off x="6461608" y="31546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Igual que efectivo</a:t>
            </a:r>
            <a:endParaRPr lang="en-US" sz="1200" dirty="0"/>
          </a:p>
        </p:txBody>
      </p:sp>
      <p:sp>
        <p:nvSpPr>
          <p:cNvPr id="21" name="tile_3"/>
          <p:cNvSpPr/>
          <p:nvPr/>
        </p:nvSpPr>
        <p:spPr>
          <a:xfrm>
            <a:off x="9075191" y="1280160"/>
            <a:ext cx="2567864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ile_mercado_3"/>
          <p:cNvSpPr txBox="1"/>
          <p:nvPr/>
        </p:nvSpPr>
        <p:spPr>
          <a:xfrm>
            <a:off x="9303791" y="1463040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Regímenes</a:t>
            </a:r>
            <a:endParaRPr lang="en-US" sz="1400" dirty="0"/>
          </a:p>
        </p:txBody>
      </p:sp>
      <p:sp>
        <p:nvSpPr>
          <p:cNvPr id="23" name="tile_num_3"/>
          <p:cNvSpPr txBox="1"/>
          <p:nvPr/>
        </p:nvSpPr>
        <p:spPr>
          <a:xfrm>
            <a:off x="9303791" y="1828800"/>
            <a:ext cx="2110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≈ 0</a:t>
            </a:r>
            <a:endParaRPr lang="en-US" sz="4400" dirty="0"/>
          </a:p>
        </p:txBody>
      </p:sp>
      <p:sp>
        <p:nvSpPr>
          <p:cNvPr id="24" name="tile_sub_3"/>
          <p:cNvSpPr txBox="1"/>
          <p:nvPr/>
        </p:nvSpPr>
        <p:spPr>
          <a:xfrm>
            <a:off x="9303791" y="26517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Evita pérdidas · Buy &amp; Hold −21,9</a:t>
            </a:r>
            <a:endParaRPr lang="en-US" sz="1200" dirty="0"/>
          </a:p>
        </p:txBody>
      </p:sp>
      <p:sp>
        <p:nvSpPr>
          <p:cNvPr id="25" name="tile_chip_3"/>
          <p:cNvSpPr/>
          <p:nvPr/>
        </p:nvSpPr>
        <p:spPr>
          <a:xfrm>
            <a:off x="9303791" y="3154680"/>
            <a:ext cx="2110664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tile_chip_txt_3"/>
          <p:cNvSpPr txBox="1"/>
          <p:nvPr/>
        </p:nvSpPr>
        <p:spPr>
          <a:xfrm>
            <a:off x="9303791" y="31546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Igual que efectivo</a:t>
            </a:r>
            <a:endParaRPr lang="en-US" sz="1200" dirty="0"/>
          </a:p>
        </p:txBody>
      </p:sp>
      <p:sp>
        <p:nvSpPr>
          <p:cNvPr id="27" name="nota_tiles"/>
          <p:cNvSpPr txBox="1"/>
          <p:nvPr/>
        </p:nvSpPr>
        <p:spPr>
          <a:xfrm>
            <a:off x="548640" y="3794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Log-retorno medio en test (pp) frente a no operar · Q-Learning · IC95 bootstrap sobre 100 series</a:t>
            </a:r>
            <a:endParaRPr lang="en-US" sz="1100" dirty="0"/>
          </a:p>
        </p:txBody>
      </p:sp>
      <p:sp>
        <p:nvSpPr>
          <p:cNvPr id="28" name="caja_qs"/>
          <p:cNvSpPr/>
          <p:nvPr/>
        </p:nvSpPr>
        <p:spPr>
          <a:xfrm>
            <a:off x="548640" y="4297680"/>
            <a:ext cx="5410048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punto_ql"/>
          <p:cNvSpPr/>
          <p:nvPr/>
        </p:nvSpPr>
        <p:spPr>
          <a:xfrm>
            <a:off x="868680" y="468172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aprox"/>
          <p:cNvSpPr txBox="1"/>
          <p:nvPr/>
        </p:nvSpPr>
        <p:spPr>
          <a:xfrm>
            <a:off x="1325880" y="4590288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≈</a:t>
            </a:r>
            <a:endParaRPr lang="en-US" sz="3000" dirty="0"/>
          </a:p>
        </p:txBody>
      </p:sp>
      <p:sp>
        <p:nvSpPr>
          <p:cNvPr id="31" name="punto_sarsa"/>
          <p:cNvSpPr/>
          <p:nvPr/>
        </p:nvSpPr>
        <p:spPr>
          <a:xfrm>
            <a:off x="1783080" y="4681728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qs_titulo"/>
          <p:cNvSpPr txBox="1"/>
          <p:nvPr/>
        </p:nvSpPr>
        <p:spPr>
          <a:xfrm>
            <a:off x="2468880" y="4617720"/>
            <a:ext cx="326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Q-Learning ≈ SARSA</a:t>
            </a:r>
            <a:endParaRPr lang="en-US" sz="2000" dirty="0"/>
          </a:p>
        </p:txBody>
      </p:sp>
      <p:sp>
        <p:nvSpPr>
          <p:cNvPr id="33" name="qs_desc"/>
          <p:cNvSpPr txBox="1"/>
          <p:nvPr/>
        </p:nvSpPr>
        <p:spPr>
          <a:xfrm>
            <a:off x="868680" y="5212080"/>
            <a:ext cx="476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Ninguna diferencia significativa en los 4 mercados.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Batir a Buy &amp; Hold no prueba nada: en regímenes, no operar ya lo bate.</a:t>
            </a:r>
            <a:endParaRPr lang="en-US" sz="1300" dirty="0"/>
          </a:p>
        </p:txBody>
      </p:sp>
      <p:sp>
        <p:nvSpPr>
          <p:cNvPr id="34" name="caja_btc"/>
          <p:cNvSpPr/>
          <p:nvPr/>
        </p:nvSpPr>
        <p:spPr>
          <a:xfrm>
            <a:off x="6233008" y="4297680"/>
            <a:ext cx="5410048" cy="178308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btc_titulo"/>
          <p:cNvSpPr txBox="1"/>
          <p:nvPr/>
        </p:nvSpPr>
        <p:spPr>
          <a:xfrm>
            <a:off x="6553048" y="452628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Datos reales · BTC 2023–2026</a:t>
            </a:r>
            <a:endParaRPr lang="en-US" sz="1400" dirty="0"/>
          </a:p>
        </p:txBody>
      </p:sp>
      <p:sp>
        <p:nvSpPr>
          <p:cNvPr id="36" name="btc_num_0"/>
          <p:cNvSpPr txBox="1"/>
          <p:nvPr/>
        </p:nvSpPr>
        <p:spPr>
          <a:xfrm>
            <a:off x="6553048" y="4937760"/>
            <a:ext cx="15899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+82 %</a:t>
            </a:r>
            <a:endParaRPr lang="en-US" sz="2800" dirty="0"/>
          </a:p>
        </p:txBody>
      </p:sp>
      <p:sp>
        <p:nvSpPr>
          <p:cNvPr id="37" name="btc_label_0"/>
          <p:cNvSpPr txBox="1"/>
          <p:nvPr/>
        </p:nvSpPr>
        <p:spPr>
          <a:xfrm>
            <a:off x="6553048" y="5486400"/>
            <a:ext cx="14985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Q-Learning</a:t>
            </a:r>
            <a:endParaRPr lang="en-US" sz="1200" dirty="0"/>
          </a:p>
        </p:txBody>
      </p:sp>
      <p:sp>
        <p:nvSpPr>
          <p:cNvPr id="38" name="btc_num_1"/>
          <p:cNvSpPr txBox="1"/>
          <p:nvPr/>
        </p:nvSpPr>
        <p:spPr>
          <a:xfrm>
            <a:off x="8143037" y="4937760"/>
            <a:ext cx="15899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+381 %</a:t>
            </a:r>
            <a:endParaRPr lang="en-US" sz="2800" dirty="0"/>
          </a:p>
        </p:txBody>
      </p:sp>
      <p:sp>
        <p:nvSpPr>
          <p:cNvPr id="39" name="btc_label_1"/>
          <p:cNvSpPr txBox="1"/>
          <p:nvPr/>
        </p:nvSpPr>
        <p:spPr>
          <a:xfrm>
            <a:off x="8143037" y="5486400"/>
            <a:ext cx="14985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Buy &amp; Hold</a:t>
            </a:r>
            <a:endParaRPr lang="en-US" sz="1200" dirty="0"/>
          </a:p>
        </p:txBody>
      </p:sp>
      <p:sp>
        <p:nvSpPr>
          <p:cNvPr id="40" name="btc_num_2"/>
          <p:cNvSpPr txBox="1"/>
          <p:nvPr/>
        </p:nvSpPr>
        <p:spPr>
          <a:xfrm>
            <a:off x="9733026" y="4937760"/>
            <a:ext cx="15899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−11 %</a:t>
            </a:r>
            <a:endParaRPr lang="en-US" sz="2800" dirty="0"/>
          </a:p>
        </p:txBody>
      </p:sp>
      <p:sp>
        <p:nvSpPr>
          <p:cNvPr id="41" name="btc_label_2"/>
          <p:cNvSpPr txBox="1"/>
          <p:nvPr/>
        </p:nvSpPr>
        <p:spPr>
          <a:xfrm>
            <a:off x="9733026" y="5486400"/>
            <a:ext cx="14985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en 2022 (B&amp;H −44 %)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ern Minimalist">
  <a:themeElements>
    <a:clrScheme name="Modern Minimalist">
      <a:dk1>
        <a:srgbClr val="36454F"/>
      </a:dk1>
      <a:lt1>
        <a:srgbClr val="FFFFFF"/>
      </a:lt1>
      <a:dk2>
        <a:srgbClr val="708090"/>
      </a:dk2>
      <a:lt2>
        <a:srgbClr val="F2F3F4"/>
      </a:lt2>
      <a:accent1>
        <a:srgbClr val="2A78D6"/>
      </a:accent1>
      <a:accent2>
        <a:srgbClr val="EE6A33"/>
      </a:accent2>
      <a:accent3>
        <a:srgbClr val="708090"/>
      </a:accent3>
      <a:accent4>
        <a:srgbClr val="D3D3D3"/>
      </a:accent4>
      <a:accent5>
        <a:srgbClr val="36454F"/>
      </a:accent5>
      <a:accent6>
        <a:srgbClr val="A9B4BC"/>
      </a:accent6>
      <a:hlink>
        <a:srgbClr val="2A78D6"/>
      </a:hlink>
      <a:folHlink>
        <a:srgbClr val="708090"/>
      </a:folHlink>
    </a:clrScheme>
    <a:fontScheme name="Modern Minimalis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RL: agente trader con Q-Learning y SARSA</dc:title>
  <dc:subject>PptxGenJS Presentation</dc:subject>
  <dc:creator>Cristian Camilo, Daniel Gallego, Marco Corpa</dc:creator>
  <cp:lastModifiedBy>Cristian Camilo, Daniel Gallego, Marco Corpa</cp:lastModifiedBy>
  <cp:revision>1</cp:revision>
  <dcterms:created xsi:type="dcterms:W3CDTF">2026-10-29T08:12:04Z</dcterms:created>
  <dcterms:modified xsi:type="dcterms:W3CDTF">2026-10-29T08:12:04Z</dcterms:modified>
</cp:coreProperties>
</file>